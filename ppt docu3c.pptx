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antason Bold" panose="020B0604020202020204" charset="-34"/>
      <p:regular r:id="rId9"/>
    </p:embeddedFont>
    <p:embeddedFont>
      <p:font typeface="Cloud" panose="020B0604020202020204" charset="0"/>
      <p:regular r:id="rId10"/>
    </p:embeddedFont>
    <p:embeddedFont>
      <p:font typeface="Cloud Bold" panose="020B0604020202020204" charset="0"/>
      <p:regular r:id="rId11"/>
    </p:embeddedFont>
    <p:embeddedFont>
      <p:font typeface="IBM Plex Sans" panose="020B0503050203000203" pitchFamily="34" charset="0"/>
      <p:regular r:id="rId12"/>
      <p:bold r:id="rId13"/>
    </p:embeddedFont>
    <p:embeddedFont>
      <p:font typeface="IBM Plex Sans Bold" panose="020B0803050203000203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37080"/>
            <a:ext cx="8439606" cy="2908376"/>
            <a:chOff x="0" y="0"/>
            <a:chExt cx="11252808" cy="3877834"/>
          </a:xfrm>
        </p:grpSpPr>
        <p:sp>
          <p:nvSpPr>
            <p:cNvPr id="3" name="TextBox 3"/>
            <p:cNvSpPr txBox="1"/>
            <p:nvPr/>
          </p:nvSpPr>
          <p:spPr>
            <a:xfrm>
              <a:off x="0" y="3214894"/>
              <a:ext cx="11252808" cy="662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94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1252808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INTRODUCTION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387617"/>
            <a:ext cx="15926339" cy="523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Title:</a:t>
            </a: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Gait-Based Person Identification Using Smartphone Sensors</a:t>
            </a:r>
          </a:p>
          <a:p>
            <a:pPr algn="l">
              <a:lnSpc>
                <a:spcPts val="5074"/>
              </a:lnSpc>
            </a:pPr>
            <a:endParaRPr lang="en-US" sz="3624" b="1" dirty="0">
              <a:solidFill>
                <a:schemeClr val="tx1">
                  <a:lumMod val="95000"/>
                  <a:lumOff val="5000"/>
                </a:schemeClr>
              </a:solidFill>
              <a:latin typeface="Cloud Bold"/>
              <a:ea typeface="Cloud Bold"/>
              <a:cs typeface="Cloud Bold"/>
              <a:sym typeface="Cloud Bold"/>
            </a:endParaRP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Presented by:</a:t>
            </a: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Ashish Pancheshwar</a:t>
            </a: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Computer Science Specialization in Education Technology </a:t>
            </a: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chemeClr val="tx1">
                    <a:lumMod val="95000"/>
                    <a:lumOff val="5000"/>
                  </a:schemeClr>
                </a:solidFill>
                <a:latin typeface="Cloud Bold"/>
                <a:ea typeface="Cloud Bold"/>
                <a:cs typeface="Cloud Bold"/>
                <a:sym typeface="Cloud Bold"/>
              </a:rPr>
              <a:t>VIT Bhopal</a:t>
            </a:r>
          </a:p>
          <a:p>
            <a:pPr algn="l">
              <a:lnSpc>
                <a:spcPts val="5074"/>
              </a:lnSpc>
              <a:spcBef>
                <a:spcPct val="0"/>
              </a:spcBef>
            </a:pPr>
            <a:endParaRPr lang="en-US" sz="3624" b="1" dirty="0">
              <a:solidFill>
                <a:srgbClr val="0C3571"/>
              </a:solidFill>
              <a:latin typeface="Cloud Bold"/>
              <a:ea typeface="Cloud Bold"/>
              <a:cs typeface="Cloud Bold"/>
              <a:sym typeface="Clou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4808"/>
            <a:ext cx="12234906" cy="3497228"/>
            <a:chOff x="0" y="0"/>
            <a:chExt cx="16313207" cy="4662971"/>
          </a:xfrm>
        </p:grpSpPr>
        <p:sp>
          <p:nvSpPr>
            <p:cNvPr id="3" name="TextBox 3"/>
            <p:cNvSpPr txBox="1"/>
            <p:nvPr/>
          </p:nvSpPr>
          <p:spPr>
            <a:xfrm>
              <a:off x="0" y="4000031"/>
              <a:ext cx="11252808" cy="662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94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313207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PROJECT OVERVIEW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800722"/>
            <a:ext cx="12495879" cy="915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Objective</a:t>
            </a:r>
            <a:r>
              <a: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To identify a person using their walking pattern (gait).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Use smartphone accelerometer and gyroscope data.</a:t>
            </a:r>
          </a:p>
          <a:p>
            <a:pPr algn="l">
              <a:lnSpc>
                <a:spcPts val="5074"/>
              </a:lnSpc>
            </a:pPr>
            <a:endParaRPr lang="en-US" sz="3624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Why Gait?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Every person has a unique walking style.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Can be used for security and authentication.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Works without face or fingerprint.</a:t>
            </a:r>
          </a:p>
          <a:p>
            <a:pPr algn="l">
              <a:lnSpc>
                <a:spcPts val="5074"/>
              </a:lnSpc>
            </a:pPr>
            <a:endParaRPr lang="en-US" sz="3624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l">
              <a:lnSpc>
                <a:spcPts val="5074"/>
              </a:lnSpc>
            </a:pPr>
            <a:r>
              <a:rPr lang="en-US" sz="3624" b="1" dirty="0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Applications</a:t>
            </a:r>
            <a:r>
              <a: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Mobile phone authentication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Security systems</a:t>
            </a:r>
          </a:p>
          <a:p>
            <a:pPr marL="782634" lvl="1" indent="-391317" algn="l">
              <a:lnSpc>
                <a:spcPts val="5074"/>
              </a:lnSpc>
              <a:buFont typeface="Arial"/>
              <a:buChar char="•"/>
            </a:pPr>
            <a:r>
              <a:rPr lang="en-US" sz="3624" dirty="0">
                <a:solidFill>
                  <a:schemeClr val="tx1">
                    <a:lumMod val="95000"/>
                    <a:lumOff val="5000"/>
                  </a:schemeClr>
                </a:solidFill>
                <a:latin typeface="Cloud"/>
                <a:ea typeface="Cloud"/>
                <a:cs typeface="Cloud"/>
                <a:sym typeface="Cloud"/>
              </a:rPr>
              <a:t>Health and fitness tracking</a:t>
            </a:r>
          </a:p>
          <a:p>
            <a:pPr algn="l">
              <a:lnSpc>
                <a:spcPts val="5074"/>
              </a:lnSpc>
              <a:spcBef>
                <a:spcPct val="0"/>
              </a:spcBef>
            </a:pPr>
            <a:endParaRPr lang="en-US" sz="3624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13748"/>
            <a:ext cx="17711667" cy="9856546"/>
            <a:chOff x="0" y="-9525"/>
            <a:chExt cx="23615556" cy="13142060"/>
          </a:xfrm>
        </p:grpSpPr>
        <p:sp>
          <p:nvSpPr>
            <p:cNvPr id="3" name="TextBox 3"/>
            <p:cNvSpPr txBox="1"/>
            <p:nvPr/>
          </p:nvSpPr>
          <p:spPr>
            <a:xfrm>
              <a:off x="1249087" y="1796098"/>
              <a:ext cx="20156549" cy="113364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Overall Approach:</a:t>
              </a:r>
            </a:p>
            <a:p>
              <a:pPr marL="782634" lvl="1" indent="-391317" algn="l">
                <a:lnSpc>
                  <a:spcPts val="5074"/>
                </a:lnSpc>
                <a:buAutoNum type="arabicPeriod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Collect accelerometer and gyroscope data.</a:t>
              </a:r>
            </a:p>
            <a:p>
              <a:pPr marL="782634" lvl="1" indent="-391317" algn="l">
                <a:lnSpc>
                  <a:spcPts val="5074"/>
                </a:lnSpc>
                <a:buAutoNum type="arabicPeriod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Merge sensor data.</a:t>
              </a:r>
            </a:p>
            <a:p>
              <a:pPr marL="782634" lvl="1" indent="-391317" algn="l">
                <a:lnSpc>
                  <a:spcPts val="5074"/>
                </a:lnSpc>
                <a:buAutoNum type="arabicPeriod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Extract statistical features.</a:t>
              </a:r>
            </a:p>
            <a:p>
              <a:pPr marL="782634" lvl="1" indent="-391317" algn="l">
                <a:lnSpc>
                  <a:spcPts val="5074"/>
                </a:lnSpc>
                <a:buAutoNum type="arabicPeriod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Train a machine learning model.</a:t>
              </a:r>
            </a:p>
            <a:p>
              <a:pPr marL="782634" lvl="1" indent="-391317" algn="l">
                <a:lnSpc>
                  <a:spcPts val="5074"/>
                </a:lnSpc>
                <a:buAutoNum type="arabicPeriod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Predict unknown person.</a:t>
              </a:r>
            </a:p>
            <a:p>
              <a:pPr algn="l">
                <a:lnSpc>
                  <a:spcPts val="5074"/>
                </a:lnSpc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Key Decisions: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Used smartphone sensors instead of camera.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Used Random Forest classifier.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Used statistical features (mean, std, max, min).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Created separate folders for each person.</a:t>
              </a:r>
            </a:p>
            <a:p>
              <a:pPr marL="0" lvl="0" indent="0" algn="l">
                <a:lnSpc>
                  <a:spcPts val="5074"/>
                </a:lnSpc>
                <a:spcBef>
                  <a:spcPct val="0"/>
                </a:spcBef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615556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APPROACH AND KEY DECISIONS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43627"/>
            <a:ext cx="843960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-36000" y="1532233"/>
            <a:ext cx="10369612" cy="1262648"/>
            <a:chOff x="0" y="0"/>
            <a:chExt cx="2731091" cy="3325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1091" cy="332549"/>
            </a:xfrm>
            <a:custGeom>
              <a:avLst/>
              <a:gdLst/>
              <a:ahLst/>
              <a:cxnLst/>
              <a:rect l="l" t="t" r="r" b="b"/>
              <a:pathLst>
                <a:path w="2731091" h="332549">
                  <a:moveTo>
                    <a:pt x="2527891" y="0"/>
                  </a:moveTo>
                  <a:lnTo>
                    <a:pt x="0" y="0"/>
                  </a:lnTo>
                  <a:lnTo>
                    <a:pt x="203200" y="332549"/>
                  </a:lnTo>
                  <a:lnTo>
                    <a:pt x="2731091" y="332549"/>
                  </a:lnTo>
                  <a:lnTo>
                    <a:pt x="2527891" y="0"/>
                  </a:lnTo>
                  <a:close/>
                </a:path>
              </a:pathLst>
            </a:custGeom>
            <a:solidFill>
              <a:srgbClr val="75BB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85725"/>
              <a:ext cx="2527891" cy="418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6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01678" y="1532233"/>
            <a:ext cx="11186322" cy="1262648"/>
            <a:chOff x="0" y="0"/>
            <a:chExt cx="2946192" cy="3325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46192" cy="332549"/>
            </a:xfrm>
            <a:custGeom>
              <a:avLst/>
              <a:gdLst/>
              <a:ahLst/>
              <a:cxnLst/>
              <a:rect l="l" t="t" r="r" b="b"/>
              <a:pathLst>
                <a:path w="2946192" h="332549">
                  <a:moveTo>
                    <a:pt x="2742992" y="0"/>
                  </a:moveTo>
                  <a:lnTo>
                    <a:pt x="0" y="0"/>
                  </a:lnTo>
                  <a:lnTo>
                    <a:pt x="203200" y="332549"/>
                  </a:lnTo>
                  <a:lnTo>
                    <a:pt x="2946192" y="332549"/>
                  </a:lnTo>
                  <a:lnTo>
                    <a:pt x="2742992" y="0"/>
                  </a:lnTo>
                  <a:close/>
                </a:path>
              </a:pathLst>
            </a:custGeom>
            <a:solidFill>
              <a:srgbClr val="75BB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85725"/>
              <a:ext cx="2742992" cy="418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68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841832" y="4437065"/>
            <a:ext cx="16230600" cy="0"/>
          </a:xfrm>
          <a:prstGeom prst="line">
            <a:avLst/>
          </a:prstGeom>
          <a:ln w="95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332094" y="-7325"/>
            <a:ext cx="15974706" cy="1289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99"/>
              </a:lnSpc>
              <a:spcBef>
                <a:spcPct val="0"/>
              </a:spcBef>
            </a:pPr>
            <a:r>
              <a:rPr lang="en-US" sz="7999" b="1" dirty="0">
                <a:solidFill>
                  <a:srgbClr val="00206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DATASET VS REAL-WORLD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30644" y="1589448"/>
            <a:ext cx="5564386" cy="58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620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Real-World Data (Testing)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7115" y="1624199"/>
            <a:ext cx="4990267" cy="58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  <a:spcBef>
                <a:spcPct val="0"/>
              </a:spcBef>
            </a:pPr>
            <a:r>
              <a:rPr lang="en-US" sz="3620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Dataset (Training Data)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1028700" y="6059023"/>
            <a:ext cx="16230600" cy="0"/>
          </a:xfrm>
          <a:prstGeom prst="line">
            <a:avLst/>
          </a:prstGeom>
          <a:ln w="9525" cap="flat">
            <a:solidFill>
              <a:srgbClr val="0453F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345326" y="3096897"/>
            <a:ext cx="8307467" cy="58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559" lvl="1" indent="-390779" algn="l">
              <a:lnSpc>
                <a:spcPts val="4706"/>
              </a:lnSpc>
              <a:buFont typeface="Arial"/>
              <a:buChar char="•"/>
            </a:pPr>
            <a:r>
              <a:rPr lang="en-US" sz="3620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collected from known persons.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5326" y="4566455"/>
            <a:ext cx="8943876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4679"/>
              </a:lnSpc>
              <a:buFont typeface="Arial"/>
              <a:buChar char="•"/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person walked while sensors recorded movement.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1028700" y="8249773"/>
            <a:ext cx="16230600" cy="0"/>
          </a:xfrm>
          <a:prstGeom prst="line">
            <a:avLst/>
          </a:prstGeom>
          <a:ln w="9525" cap="flat">
            <a:solidFill>
              <a:srgbClr val="0453F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332094" y="6187611"/>
            <a:ext cx="8302168" cy="235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4679"/>
              </a:lnSpc>
              <a:buFont typeface="Arial"/>
              <a:buChar char="•"/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stored as: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</a:t>
            </a: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1. accelerometer (acc.csv)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</a:t>
            </a: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2. gyroscope (gyro.csv)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endParaRPr lang="en-US" sz="3599" dirty="0">
              <a:solidFill>
                <a:srgbClr val="0C357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0" y="3096897"/>
            <a:ext cx="9360188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4679"/>
              </a:lnSpc>
              <a:buFont typeface="Arial"/>
              <a:buChar char="•"/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New walking data from an unknown person.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4641853"/>
            <a:ext cx="6997661" cy="117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4679"/>
              </a:lnSpc>
              <a:buFont typeface="Arial"/>
              <a:buChar char="•"/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to test or predict identity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6187611"/>
            <a:ext cx="7537674" cy="235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4679"/>
              </a:lnSpc>
              <a:buFont typeface="Arial"/>
              <a:buChar char="•"/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 predicts: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</a:t>
            </a: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1. Known person ID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</a:t>
            </a: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2. or Unknown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endParaRPr lang="en-US" sz="3599" dirty="0">
              <a:solidFill>
                <a:srgbClr val="0C357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20" y="440996"/>
            <a:ext cx="15936608" cy="10519301"/>
            <a:chOff x="0" y="0"/>
            <a:chExt cx="21248810" cy="14025735"/>
          </a:xfrm>
        </p:grpSpPr>
        <p:sp>
          <p:nvSpPr>
            <p:cNvPr id="3" name="TextBox 3"/>
            <p:cNvSpPr txBox="1"/>
            <p:nvPr/>
          </p:nvSpPr>
          <p:spPr>
            <a:xfrm>
              <a:off x="192167" y="1936955"/>
              <a:ext cx="21056643" cy="12088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Model Used: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Random Forest Classifier</a:t>
              </a:r>
            </a:p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Validation Method: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Train-test split on collected dataset.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Accuracy measured on test data.</a:t>
              </a:r>
            </a:p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Results: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High accuracy on known persons.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Correct identification of trained users.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Unknown person detected separately.</a:t>
              </a:r>
            </a:p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Output Example: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Person1 → correctly predicted as Person1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Person2 → correctly predicted as Person2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New user → predicted as Unknown</a:t>
              </a:r>
            </a:p>
            <a:p>
              <a:pPr marL="0" lvl="0" indent="0" algn="l">
                <a:lnSpc>
                  <a:spcPts val="4374"/>
                </a:lnSpc>
                <a:spcBef>
                  <a:spcPct val="0"/>
                </a:spcBef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419907" cy="1659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  <a:spcBef>
                  <a:spcPct val="0"/>
                </a:spcBef>
              </a:pPr>
              <a:r>
                <a:rPr lang="en-US" sz="81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RESULTS AND VALIDATION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21556"/>
            <a:ext cx="15665790" cy="8638456"/>
            <a:chOff x="0" y="-9525"/>
            <a:chExt cx="20887721" cy="11517941"/>
          </a:xfrm>
        </p:grpSpPr>
        <p:sp>
          <p:nvSpPr>
            <p:cNvPr id="3" name="TextBox 3"/>
            <p:cNvSpPr txBox="1"/>
            <p:nvPr/>
          </p:nvSpPr>
          <p:spPr>
            <a:xfrm>
              <a:off x="645916" y="1539875"/>
              <a:ext cx="18115665" cy="996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354"/>
                </a:lnSpc>
              </a:pPr>
              <a:r>
                <a:rPr lang="en-US" sz="38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 </a:t>
              </a:r>
            </a:p>
            <a:p>
              <a:pPr algn="just">
                <a:lnSpc>
                  <a:spcPts val="5354"/>
                </a:lnSpc>
              </a:pPr>
              <a:r>
                <a:rPr lang="en-US" sz="38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Challenge 1:</a:t>
              </a:r>
            </a:p>
            <a:p>
              <a:pPr algn="just">
                <a:lnSpc>
                  <a:spcPts val="5074"/>
                </a:lnSpc>
              </a:pP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    </a:t>
              </a: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Different walking speeds</a:t>
              </a:r>
            </a:p>
            <a:p>
              <a:pPr algn="just">
                <a:lnSpc>
                  <a:spcPts val="5074"/>
                </a:lnSpc>
              </a:pP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 </a:t>
              </a: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Solution</a:t>
              </a: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:</a:t>
              </a:r>
            </a:p>
            <a:p>
              <a:pPr algn="just">
                <a:lnSpc>
                  <a:spcPts val="5074"/>
                </a:lnSpc>
              </a:pP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    </a:t>
              </a: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Collected multiple trials per person</a:t>
              </a: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.</a:t>
              </a:r>
            </a:p>
            <a:p>
              <a:pPr algn="just">
                <a:lnSpc>
                  <a:spcPts val="4094"/>
                </a:lnSpc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  <a:p>
              <a:pPr algn="just">
                <a:lnSpc>
                  <a:spcPts val="5354"/>
                </a:lnSpc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  <a:p>
              <a:pPr algn="just">
                <a:lnSpc>
                  <a:spcPts val="5354"/>
                </a:lnSpc>
              </a:pPr>
              <a:r>
                <a:rPr lang="en-US" sz="38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Challenge 3:</a:t>
              </a:r>
            </a:p>
            <a:p>
              <a:pPr algn="just">
                <a:lnSpc>
                  <a:spcPts val="4374"/>
                </a:lnSpc>
              </a:pPr>
              <a:r>
                <a:rPr lang="en-US" sz="31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    Low accuracy with small dataset</a:t>
              </a:r>
            </a:p>
            <a:p>
              <a:pPr algn="just">
                <a:lnSpc>
                  <a:spcPts val="4374"/>
                </a:lnSpc>
              </a:pPr>
              <a:r>
                <a:rPr lang="en-US" sz="31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  </a:t>
              </a:r>
              <a:r>
                <a:rPr lang="en-US" sz="31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Solution:</a:t>
              </a:r>
            </a:p>
            <a:p>
              <a:pPr algn="just">
                <a:lnSpc>
                  <a:spcPts val="4374"/>
                </a:lnSpc>
              </a:pPr>
              <a:r>
                <a:rPr lang="en-US" sz="31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    </a:t>
              </a:r>
              <a:r>
                <a:rPr lang="en-US" sz="31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Increased number of walking samples</a:t>
              </a:r>
              <a:r>
                <a:rPr lang="en-US" sz="31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.</a:t>
              </a:r>
            </a:p>
            <a:p>
              <a:pPr marL="0" lvl="0" indent="0" algn="just">
                <a:lnSpc>
                  <a:spcPts val="4094"/>
                </a:lnSpc>
                <a:spcBef>
                  <a:spcPct val="0"/>
                </a:spcBef>
              </a:pPr>
              <a:endParaRPr lang="en-US" sz="31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0887721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CHALLENGES AND SOLUTIONS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39603" y="2572279"/>
            <a:ext cx="952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047657" y="2854219"/>
            <a:ext cx="8211643" cy="301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sz="3819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Challenge 2: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Sensor noise and irregular data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</a:t>
            </a:r>
            <a:r>
              <a:rPr lang="en-US" sz="3599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Solution</a:t>
            </a:r>
            <a:r>
              <a:rPr lang="en-US" sz="3599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</a:p>
          <a:p>
            <a:pPr algn="l">
              <a:lnSpc>
                <a:spcPts val="4679"/>
              </a:lnSpc>
            </a:pPr>
            <a:r>
              <a:rPr lang="en-US" sz="3599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Used statistical feature extraction.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endParaRPr lang="en-US" sz="3599" dirty="0">
              <a:solidFill>
                <a:srgbClr val="0C357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32499" y="6514592"/>
            <a:ext cx="6894314" cy="277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65"/>
              </a:lnSpc>
            </a:pPr>
            <a:r>
              <a:rPr lang="en-US" sz="3819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Challenge 4:</a:t>
            </a:r>
          </a:p>
          <a:p>
            <a:pPr algn="just">
              <a:lnSpc>
                <a:spcPts val="4056"/>
              </a:lnSpc>
            </a:pPr>
            <a:r>
              <a:rPr lang="en-US" sz="3120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</a:t>
            </a:r>
            <a:r>
              <a:rPr lang="en-US" sz="3120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Unknown person detection</a:t>
            </a:r>
          </a:p>
          <a:p>
            <a:pPr algn="just">
              <a:lnSpc>
                <a:spcPts val="4056"/>
              </a:lnSpc>
            </a:pPr>
            <a:r>
              <a:rPr lang="en-US" sz="3120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</a:t>
            </a:r>
            <a:r>
              <a:rPr lang="en-US" sz="3120" b="1" dirty="0">
                <a:solidFill>
                  <a:srgbClr val="0C357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Solution:</a:t>
            </a:r>
            <a:endParaRPr lang="en-US" sz="3120" b="1" dirty="0">
              <a:solidFill>
                <a:srgbClr val="0C3571"/>
              </a:solidFill>
              <a:latin typeface="IBM Plex Sans"/>
              <a:ea typeface="IBM Plex Sans Bold"/>
              <a:cs typeface="IBM Plex Sans Bold"/>
              <a:sym typeface="IBM Plex Sans"/>
            </a:endParaRPr>
          </a:p>
          <a:p>
            <a:pPr algn="just">
              <a:lnSpc>
                <a:spcPts val="4056"/>
              </a:lnSpc>
            </a:pPr>
            <a:r>
              <a:rPr lang="en-US" sz="3120" b="1" dirty="0">
                <a:solidFill>
                  <a:srgbClr val="0C357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</a:t>
            </a:r>
            <a:r>
              <a:rPr lang="en-US" sz="3120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/>
                <a:ea typeface="IBM Plex Sans"/>
                <a:cs typeface="IBM Plex Sans"/>
                <a:sym typeface="IBM Plex Sans"/>
              </a:rPr>
              <a:t>Added “Unknown” prediction logic</a:t>
            </a:r>
          </a:p>
          <a:p>
            <a:pPr algn="just">
              <a:lnSpc>
                <a:spcPts val="4679"/>
              </a:lnSpc>
              <a:spcBef>
                <a:spcPct val="0"/>
              </a:spcBef>
            </a:pPr>
            <a:endParaRPr lang="en-US" sz="3120" dirty="0">
              <a:solidFill>
                <a:srgbClr val="0C357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1028700" y="6059023"/>
            <a:ext cx="16230600" cy="0"/>
          </a:xfrm>
          <a:prstGeom prst="line">
            <a:avLst/>
          </a:prstGeom>
          <a:ln w="9525" cap="flat">
            <a:solidFill>
              <a:srgbClr val="0453F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69037"/>
            <a:ext cx="17906311" cy="9072055"/>
            <a:chOff x="0" y="-9525"/>
            <a:chExt cx="23875082" cy="12096074"/>
          </a:xfrm>
        </p:grpSpPr>
        <p:sp>
          <p:nvSpPr>
            <p:cNvPr id="3" name="TextBox 3"/>
            <p:cNvSpPr txBox="1"/>
            <p:nvPr/>
          </p:nvSpPr>
          <p:spPr>
            <a:xfrm>
              <a:off x="819299" y="2494179"/>
              <a:ext cx="18115665" cy="9592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Conclusion</a:t>
              </a:r>
              <a:r>
                <a:rPr lang="en-US" sz="3624" dirty="0">
                  <a:solidFill>
                    <a:srgbClr val="0C3571"/>
                  </a:solidFill>
                  <a:latin typeface="Cloud"/>
                  <a:ea typeface="Cloud"/>
                  <a:cs typeface="Cloud"/>
                  <a:sym typeface="Cloud"/>
                </a:rPr>
                <a:t>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Successfully built a gait-based identification system.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Smartphone sensors can identify users without biometrics.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Model works well with sufficient training data.</a:t>
              </a:r>
            </a:p>
            <a:p>
              <a:pPr algn="l">
                <a:lnSpc>
                  <a:spcPts val="5074"/>
                </a:lnSpc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  <a:p>
              <a:pPr algn="l">
                <a:lnSpc>
                  <a:spcPts val="5074"/>
                </a:lnSpc>
              </a:pPr>
              <a:r>
                <a:rPr lang="en-US" sz="3624" b="1" dirty="0">
                  <a:solidFill>
                    <a:srgbClr val="0C3571"/>
                  </a:solidFill>
                  <a:latin typeface="Cloud Bold"/>
                  <a:ea typeface="Cloud Bold"/>
                  <a:cs typeface="Cloud Bold"/>
                  <a:sym typeface="Cloud Bold"/>
                </a:rPr>
                <a:t>Future Improvements: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Collect data from more people.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Use deep learning models.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Real-time mobile application.</a:t>
              </a:r>
            </a:p>
            <a:p>
              <a:pPr marL="782634" lvl="1" indent="-391317" algn="l">
                <a:lnSpc>
                  <a:spcPts val="5074"/>
                </a:lnSpc>
                <a:buFont typeface="Arial"/>
                <a:buChar char="•"/>
              </a:pPr>
              <a:r>
                <a:rPr lang="en-US" sz="362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loud"/>
                  <a:ea typeface="Cloud"/>
                  <a:cs typeface="Cloud"/>
                  <a:sym typeface="Cloud"/>
                </a:rPr>
                <a:t>Improve unknown person detection.</a:t>
              </a:r>
            </a:p>
            <a:p>
              <a:pPr marL="0" lvl="0" indent="0" algn="l">
                <a:lnSpc>
                  <a:spcPts val="5074"/>
                </a:lnSpc>
                <a:spcBef>
                  <a:spcPct val="0"/>
                </a:spcBef>
              </a:pPr>
              <a:endParaRPr lang="en-US" sz="3624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875082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 dirty="0">
                  <a:solidFill>
                    <a:srgbClr val="002060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CONCLUSION AND FUTURE WORK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414</Words>
  <Application>Microsoft Office PowerPoint</Application>
  <PresentationFormat>Custom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Anantason Bold</vt:lpstr>
      <vt:lpstr>Arial</vt:lpstr>
      <vt:lpstr>Cloud Bold</vt:lpstr>
      <vt:lpstr>Calibri</vt:lpstr>
      <vt:lpstr>Cloud</vt:lpstr>
      <vt:lpstr>IBM Plex Sans Bold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1: Introduction</dc:title>
  <cp:lastModifiedBy>Aashish Pancheshwar</cp:lastModifiedBy>
  <cp:revision>8</cp:revision>
  <dcterms:created xsi:type="dcterms:W3CDTF">2006-08-16T00:00:00Z</dcterms:created>
  <dcterms:modified xsi:type="dcterms:W3CDTF">2026-02-12T15:23:02Z</dcterms:modified>
  <dc:identifier>DAHA7hqodKo</dc:identifier>
</cp:coreProperties>
</file>